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640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457200"/>
            <a:ext cx="2560320" cy="1280160"/>
          </a:xfrm>
          <a:prstGeom prst="rect">
            <a:avLst/>
          </a:prstGeom>
          <a:solidFill>
            <a:srgbClr val="1E3A52">
              <a:alpha val="70000"/>
            </a:srgbClr>
          </a:solidFill>
          <a:ln w="6350">
            <a:solidFill>
              <a:srgbClr val="0B9E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1920240"/>
            <a:ext cx="2560320" cy="1280160"/>
          </a:xfrm>
          <a:prstGeom prst="rect">
            <a:avLst/>
          </a:prstGeom>
          <a:solidFill>
            <a:srgbClr val="1E3A52">
              <a:alpha val="70000"/>
            </a:srgbClr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3383280"/>
            <a:ext cx="2560320" cy="1280160"/>
          </a:xfrm>
          <a:prstGeom prst="rect">
            <a:avLst/>
          </a:prstGeom>
          <a:solidFill>
            <a:srgbClr val="1E3A52">
              <a:alpha val="70000"/>
            </a:srgbClr>
          </a:solidFill>
          <a:ln w="6350">
            <a:solidFill>
              <a:srgbClr val="E85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0" y="594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B9E8A"/>
                </a:solidFill>
              </a:rPr>
              <a:t>DISCOVER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95160" y="960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</a:rPr>
              <a:t>Phase 1 · Inventory · WSDL audit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9516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</a:rPr>
              <a:t>MIGRATE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9516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</a:rPr>
              <a:t>Phase 2 · Java 21 · Spring Boot 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95160" y="3520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8534A"/>
                </a:solidFill>
              </a:rPr>
              <a:t>DEPLOY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95160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</a:rPr>
              <a:t>Phase 3 &amp; 4 · AKS · Istio · Harness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B9E8A"/>
                </a:solidFill>
              </a:rPr>
              <a:t>AI-ASSISTED MIGRATION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100584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.NET WCF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to Java Spring Boot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D8E8"/>
                </a:solidFill>
              </a:rPr>
              <a:t>A Four-Phase AI-Powered Framework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</a:rPr>
              <a:t>Azure · AKS · Istio · Harness · GitHub Copilot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CA0B3"/>
                </a:solidFill>
              </a:rPr>
              <a:t>CONFIDENTIAL  ·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534A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534A"/>
                </a:solidFill>
              </a:rPr>
              <a:t>THE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Legacy .NET WCF — Why We Must Migrate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743200" cy="3291840"/>
          </a:xfrm>
          <a:prstGeom prst="rect">
            <a:avLst/>
          </a:prstGeom>
          <a:solidFill>
            <a:srgbClr val="162433"/>
          </a:solidFill>
          <a:ln w="19050">
            <a:solidFill>
              <a:srgbClr val="E853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743200" cy="73152"/>
          </a:xfrm>
          <a:prstGeom prst="rect">
            <a:avLst/>
          </a:prstGeom>
          <a:solidFill>
            <a:srgbClr val="E8534A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End of Life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DF2"/>
                </a:solidFill>
              </a:rPr>
              <a:t>WCF is frozen — no new features, security patches limited, Windows-only hosting locks us out of cloud-native infrastructure.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743200" cy="3291840"/>
          </a:xfrm>
          <a:prstGeom prst="rect">
            <a:avLst/>
          </a:prstGeom>
          <a:solidFill>
            <a:srgbClr val="162433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417320"/>
            <a:ext cx="27432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SAP SOAP Coupling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2084832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DF2"/>
                </a:solidFill>
              </a:rPr>
              <a:t>Tight coupling via auto-generated Reference.cs proxies. Any SAP WSDL change risks breaking the entire integration layer silently.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417320"/>
            <a:ext cx="2743200" cy="3291840"/>
          </a:xfrm>
          <a:prstGeom prst="rect">
            <a:avLst/>
          </a:prstGeom>
          <a:solidFill>
            <a:srgbClr val="162433"/>
          </a:solidFill>
          <a:ln w="19050">
            <a:solidFill>
              <a:srgbClr val="0B9E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417320"/>
            <a:ext cx="2743200" cy="73152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 Cloud Scale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084832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DF2"/>
                </a:solidFill>
              </a:rPr>
              <a:t>IIS/Windows hosting cannot run on AKS. No horizontal scaling, no Istio mesh, no Harness pipelines. Cannot meet our Azure strategy.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B9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ECFB5"/>
                </a:solidFill>
              </a:rPr>
              <a:t>The answer: a structured AI-assisted migration to Java 21 + Spring Boot 4, running natively on AKS with full Istio mesh observability.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B9E8A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 Four-Phase AI-Powered Migration Framework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011680" cy="3383280"/>
          </a:xfrm>
          <a:prstGeom prst="rect">
            <a:avLst/>
          </a:prstGeom>
          <a:solidFill>
            <a:srgbClr val="1E3A52"/>
          </a:solidFill>
          <a:ln w="12700">
            <a:solidFill>
              <a:srgbClr val="0B9E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011680" cy="502920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533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9E8A"/>
                </a:solidFill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Discovery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8EDF2"/>
                </a:solidFill>
              </a:rPr>
              <a:t>Service inventory · WSDL audit · Risk scoring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31720" y="2468880"/>
            <a:ext cx="201168" cy="73152"/>
          </a:xfrm>
          <a:prstGeom prst="rect">
            <a:avLst/>
          </a:prstGeom>
          <a:solidFill>
            <a:srgbClr val="8CA0B3"/>
          </a:solidFill>
          <a:ln w="12700">
            <a:solidFill>
              <a:srgbClr val="8CA0B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32888" y="1325880"/>
            <a:ext cx="2011680" cy="3383280"/>
          </a:xfrm>
          <a:prstGeom prst="rect">
            <a:avLst/>
          </a:prstGeom>
          <a:solidFill>
            <a:srgbClr val="1E3A5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32888" y="1325880"/>
            <a:ext cx="201168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4328" y="13533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24328" y="1901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24328" y="21762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App Migration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624328" y="26974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8EDF2"/>
                </a:solidFill>
              </a:rPr>
              <a:t>Java 21 · Spring Boot 4 · SAP clients · Tests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44568" y="2468880"/>
            <a:ext cx="201168" cy="73152"/>
          </a:xfrm>
          <a:prstGeom prst="rect">
            <a:avLst/>
          </a:prstGeom>
          <a:solidFill>
            <a:srgbClr val="8CA0B3"/>
          </a:solidFill>
          <a:ln w="12700">
            <a:solidFill>
              <a:srgbClr val="8CA0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45736" y="1325880"/>
            <a:ext cx="2011680" cy="3383280"/>
          </a:xfrm>
          <a:prstGeom prst="rect">
            <a:avLst/>
          </a:prstGeom>
          <a:solidFill>
            <a:srgbClr val="1E3A52"/>
          </a:solidFill>
          <a:ln w="12700">
            <a:solidFill>
              <a:srgbClr val="B8D8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45736" y="1325880"/>
            <a:ext cx="2011680" cy="502920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37176" y="13533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37176" y="1901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D8E8"/>
                </a:solidFill>
              </a:rPr>
              <a:t>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37176" y="21762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Infrastructure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837176" y="26974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8EDF2"/>
                </a:solidFill>
              </a:rPr>
              <a:t>Dockerfile · Helm · AKS · Istio · Harness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57416" y="2468880"/>
            <a:ext cx="201168" cy="73152"/>
          </a:xfrm>
          <a:prstGeom prst="rect">
            <a:avLst/>
          </a:prstGeom>
          <a:solidFill>
            <a:srgbClr val="8CA0B3"/>
          </a:solidFill>
          <a:ln w="12700">
            <a:solidFill>
              <a:srgbClr val="8CA0B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58584" y="1325880"/>
            <a:ext cx="2011680" cy="3383280"/>
          </a:xfrm>
          <a:prstGeom prst="rect">
            <a:avLst/>
          </a:prstGeom>
          <a:solidFill>
            <a:srgbClr val="1E3A52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58584" y="1325880"/>
            <a:ext cx="201168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50024" y="13533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050024" y="1901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</a:rPr>
              <a:t>Phase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50024" y="21762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Cutover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050024" y="26974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8EDF2"/>
                </a:solidFill>
              </a:rPr>
              <a:t>SAP validation · Strangler Fig · Decommission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E3A52"/>
          </a:solidFill>
          <a:ln w="6350">
            <a:solidFill>
              <a:srgbClr val="0B9E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CFB5"/>
                </a:solidFill>
              </a:rPr>
              <a:t>GitHub Copilot + Azure OpenAI  ·  AI-generated prompts drive 70-80% of repetitive code and config across all four phases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A623"/>
                </a:solidFill>
              </a:rPr>
              <a:t>TECHNOLOGY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From Legacy Windows to Cloud-Native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3840480" cy="3566160"/>
          </a:xfrm>
          <a:prstGeom prst="rect">
            <a:avLst/>
          </a:prstGeom>
          <a:solidFill>
            <a:srgbClr val="162433"/>
          </a:solidFill>
          <a:ln w="12700">
            <a:solidFill>
              <a:srgbClr val="E853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3840480" cy="384048"/>
          </a:xfrm>
          <a:prstGeom prst="rect">
            <a:avLst/>
          </a:prstGeom>
          <a:solidFill>
            <a:srgbClr val="E8534A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167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FROM  ·  Legacy Stack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34A"/>
                </a:solidFill>
              </a:rPr>
              <a:t>—  .NET WCF (Windows Communication Foundation)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494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—  SOAP/WSDL services with auto-generated proxies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883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—  IIS / Windows Server hosting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272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—  web.config XML configuration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—  Manual deployments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0050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—  No observability, no mesh, no auto-scaling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280160"/>
            <a:ext cx="4389120" cy="3566160"/>
          </a:xfrm>
          <a:prstGeom prst="rect">
            <a:avLst/>
          </a:prstGeom>
          <a:solidFill>
            <a:srgbClr val="162433"/>
          </a:solidFill>
          <a:ln w="12700">
            <a:solidFill>
              <a:srgbClr val="0B9E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280160"/>
            <a:ext cx="4389120" cy="384048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31673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1B2A"/>
                </a:solidFill>
              </a:rPr>
              <a:t>TO  ·  Target Stack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810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9E8A"/>
                </a:solidFill>
              </a:rPr>
              <a:t>Language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0" y="1810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Java 21  (records, sealed types, switch expressions)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0" y="22494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9E8A"/>
                </a:solidFill>
              </a:rPr>
              <a:t>Framework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23560" y="224942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Spring Boot 4  ·  Spring WS  ·  Wss4j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0" y="26883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9E8A"/>
                </a:solidFill>
              </a:rPr>
              <a:t>Cloud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23560" y="26883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Azure  ·  AKS  ·  Azure Container Registry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0" y="31272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9E8A"/>
                </a:solidFill>
              </a:rPr>
              <a:t>Mesh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23560" y="31272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Istio  ·  mTLS  ·  VirtualService  ·  Kiali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0" y="3566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9E8A"/>
                </a:solidFill>
              </a:rPr>
              <a:t>Pipeline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23560" y="3566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Harness  ·  Helm 3  ·  GitOps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0" y="40050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9E8A"/>
                </a:solidFill>
              </a:rPr>
              <a:t>AI Tools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23560" y="40050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</a:rPr>
              <a:t>GitHub Copilot  ·  Azure OpenAI  ·  Prompts library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06240" y="2834640"/>
            <a:ext cx="1828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B9E8A"/>
                </a:solidFill>
              </a:rPr>
              <a:t>PHASE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Discovery &amp;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A0B3"/>
                </a:solidFill>
              </a:rPr>
              <a:t>Weeks 1–3  ·  AI-led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206240" cy="1417320"/>
          </a:xfrm>
          <a:prstGeom prst="rect">
            <a:avLst/>
          </a:prstGeom>
          <a:solidFill>
            <a:srgbClr val="1E3A52"/>
          </a:solidFill>
          <a:ln w="9525">
            <a:solidFill>
              <a:srgbClr val="0B9E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27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9E8A"/>
                </a:solidFill>
              </a:rPr>
              <a:t>1.1  Service Inventory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DF2"/>
                </a:solidFill>
              </a:rPr>
              <a:t>Copilot @workspace scans every .svc file, [ServiceContract], [DataContract] and Reference.cs to produce the migration manifest JSON.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4206240" cy="1417320"/>
          </a:xfrm>
          <a:prstGeom prst="rect">
            <a:avLst/>
          </a:prstGeom>
          <a:solidFill>
            <a:srgbClr val="1E3A52"/>
          </a:solidFill>
          <a:ln w="9525">
            <a:solidFill>
              <a:srgbClr val="0B9E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527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9E8A"/>
                </a:solidFill>
              </a:rPr>
              <a:t>1.2  Dependency Graph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892808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DF2"/>
                </a:solidFill>
              </a:rPr>
              <a:t>Maps internal WCF-to-WCF calls and shared utilities. Drives microservice boundary decisions and identifies circular dependencies.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206240" cy="1417320"/>
          </a:xfrm>
          <a:prstGeom prst="rect">
            <a:avLst/>
          </a:prstGeom>
          <a:solidFill>
            <a:srgbClr val="1E3A52"/>
          </a:solidFill>
          <a:ln w="9525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1272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1.3  WSDL Audit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493008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DF2"/>
                </a:solidFill>
              </a:rPr>
              <a:t>Deep audit of every SAP WSDL — operations, types, security schemes, drift vs Reference.cs. Builds the WSDL registry for Phase 2.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3017520"/>
            <a:ext cx="4206240" cy="1417320"/>
          </a:xfrm>
          <a:prstGeom prst="rect">
            <a:avLst/>
          </a:prstGeom>
          <a:solidFill>
            <a:srgbClr val="1E3A52"/>
          </a:solidFill>
          <a:ln w="9525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1272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1.4  Risk Classification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493008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DF2"/>
                </a:solidFill>
              </a:rPr>
              <a:t>Scores every service Green / Amber / Red on 11 factors. Produces the sprint sequencing plan for Phase 3 full migration.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E3A52"/>
          </a:solidFill>
          <a:ln w="6350">
            <a:solidFill>
              <a:srgbClr val="0B9E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CFB5"/>
                </a:solidFill>
              </a:rPr>
              <a:t>OUTPUT  ·  manifest.json  ·  dependency-graph.json  ·  wsdl-registry.json  ·  risk-classification.json  ·  sprint-plan.json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A623"/>
                </a:solidFill>
              </a:rPr>
              <a:t>PHASE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Application Migration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A0B3"/>
                </a:solidFill>
              </a:rPr>
              <a:t>Pure Spring Boot code · No infrastructure · AI-led translation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417320"/>
            <a:ext cx="1097280" cy="2377440"/>
          </a:xfrm>
          <a:prstGeom prst="rect">
            <a:avLst/>
          </a:prstGeom>
          <a:solidFill>
            <a:srgbClr val="162433"/>
          </a:solidFill>
          <a:ln w="12700">
            <a:solidFill>
              <a:srgbClr val="0B9E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417320"/>
            <a:ext cx="1097280" cy="73152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554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9E8A"/>
                </a:solidFill>
              </a:rPr>
              <a:t>2.1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847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WSDL → Java Stubs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24231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jaxb2 replaces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svcutil.exe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89888" y="2578608"/>
            <a:ext cx="146304" cy="54864"/>
          </a:xfrm>
          <a:prstGeom prst="rect">
            <a:avLst/>
          </a:prstGeom>
          <a:solidFill>
            <a:srgbClr val="8CA0B3"/>
          </a:solidFill>
          <a:ln w="12700">
            <a:solidFill>
              <a:srgbClr val="8CA0B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36192" y="1417320"/>
            <a:ext cx="1097280" cy="2377440"/>
          </a:xfrm>
          <a:prstGeom prst="rect">
            <a:avLst/>
          </a:prstGeom>
          <a:solidFill>
            <a:srgbClr val="162433"/>
          </a:solidFill>
          <a:ln w="12700">
            <a:solidFill>
              <a:srgbClr val="0B9E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536192" y="1417320"/>
            <a:ext cx="1097280" cy="73152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81912" y="1554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9E8A"/>
                </a:solidFill>
              </a:rPr>
              <a:t>2.2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81912" y="1847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DTO Translation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81912" y="24231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[DataContract]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→ Java records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33472" y="2578608"/>
            <a:ext cx="146304" cy="54864"/>
          </a:xfrm>
          <a:prstGeom prst="rect">
            <a:avLst/>
          </a:prstGeom>
          <a:solidFill>
            <a:srgbClr val="8CA0B3"/>
          </a:solidFill>
          <a:ln w="12700">
            <a:solidFill>
              <a:srgbClr val="8CA0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9776" y="1417320"/>
            <a:ext cx="1097280" cy="2377440"/>
          </a:xfrm>
          <a:prstGeom prst="rect">
            <a:avLst/>
          </a:prstGeom>
          <a:solidFill>
            <a:srgbClr val="16243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79776" y="141732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25496" y="1554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2.3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25496" y="1847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Business Logic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25496" y="24231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.svc.cs →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@Service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77056" y="2578608"/>
            <a:ext cx="146304" cy="54864"/>
          </a:xfrm>
          <a:prstGeom prst="rect">
            <a:avLst/>
          </a:prstGeom>
          <a:solidFill>
            <a:srgbClr val="8CA0B3"/>
          </a:solidFill>
          <a:ln w="12700">
            <a:solidFill>
              <a:srgbClr val="8CA0B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0" y="1417320"/>
            <a:ext cx="1097280" cy="2377440"/>
          </a:xfrm>
          <a:prstGeom prst="rect">
            <a:avLst/>
          </a:prstGeom>
          <a:solidFill>
            <a:srgbClr val="16243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23360" y="1417320"/>
            <a:ext cx="10972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1554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2.4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69080" y="1847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SAP Client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69080" y="24231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WebServiceTemplate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+ Wss4j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20640" y="2578608"/>
            <a:ext cx="146304" cy="54864"/>
          </a:xfrm>
          <a:prstGeom prst="rect">
            <a:avLst/>
          </a:prstGeom>
          <a:solidFill>
            <a:srgbClr val="8CA0B3"/>
          </a:solidFill>
          <a:ln w="12700">
            <a:solidFill>
              <a:srgbClr val="8CA0B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66944" y="1417320"/>
            <a:ext cx="1097280" cy="2377440"/>
          </a:xfrm>
          <a:prstGeom prst="rect">
            <a:avLst/>
          </a:prstGeom>
          <a:solidFill>
            <a:srgbClr val="162433"/>
          </a:solidFill>
          <a:ln w="12700">
            <a:solidFill>
              <a:srgbClr val="B8D8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66944" y="1417320"/>
            <a:ext cx="1097280" cy="73152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12664" y="1554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D8E8"/>
                </a:solidFill>
              </a:rPr>
              <a:t>2.5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12664" y="1847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Exception Map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12664" y="24231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FaultException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→ RuntimeException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64224" y="2578608"/>
            <a:ext cx="146304" cy="54864"/>
          </a:xfrm>
          <a:prstGeom prst="rect">
            <a:avLst/>
          </a:prstGeom>
          <a:solidFill>
            <a:srgbClr val="8CA0B3"/>
          </a:solidFill>
          <a:ln w="12700">
            <a:solidFill>
              <a:srgbClr val="8CA0B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10528" y="1417320"/>
            <a:ext cx="1097280" cy="2377440"/>
          </a:xfrm>
          <a:prstGeom prst="rect">
            <a:avLst/>
          </a:prstGeom>
          <a:solidFill>
            <a:srgbClr val="162433"/>
          </a:solidFill>
          <a:ln w="12700">
            <a:solidFill>
              <a:srgbClr val="B8D8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510528" y="1417320"/>
            <a:ext cx="1097280" cy="73152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56248" y="1554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D8E8"/>
                </a:solidFill>
              </a:rPr>
              <a:t>2.6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56248" y="1847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Tests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56248" y="24231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JUnit 5 +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Cloud Contract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607808" y="2578608"/>
            <a:ext cx="146304" cy="54864"/>
          </a:xfrm>
          <a:prstGeom prst="rect">
            <a:avLst/>
          </a:prstGeom>
          <a:solidFill>
            <a:srgbClr val="8CA0B3"/>
          </a:solidFill>
          <a:ln w="12700">
            <a:solidFill>
              <a:srgbClr val="8CA0B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54112" y="1417320"/>
            <a:ext cx="1097280" cy="2377440"/>
          </a:xfrm>
          <a:prstGeom prst="rect">
            <a:avLst/>
          </a:prstGeom>
          <a:solidFill>
            <a:srgbClr val="162433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754112" y="1417320"/>
            <a:ext cx="10972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99832" y="1554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2.7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99832" y="1847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Common Lib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99832" y="24231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Shared beans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&amp; filters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3977640"/>
            <a:ext cx="8503920" cy="640080"/>
          </a:xfrm>
          <a:prstGeom prst="rect">
            <a:avLst/>
          </a:prstGeom>
          <a:solidFill>
            <a:srgbClr val="162433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0416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Critical rule: 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508760" y="404164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Prompt 2.3-A (pre-translation analysis) runs BEFORE any Java is written. It documents every business rule, SAP field mapping and financial calculation. AI generates code — engineers validate semantics. Every service passes the Prompt 2.R review gate before merge.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OUTPUT  ·  @Service classes  ·  @RestController endpoints  ·  SAP clients  ·  contract tests  ·  common-lib module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8D8E8"/>
                </a:solidFill>
              </a:rPr>
              <a:t>PHASE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DevOps &amp; Infrastructure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A0B3"/>
                </a:solidFill>
              </a:rPr>
              <a:t>Runs in parallel with Phase 2 · Platform team owns this phase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206240" cy="960120"/>
          </a:xfrm>
          <a:prstGeom prst="rect">
            <a:avLst/>
          </a:prstGeom>
          <a:solidFill>
            <a:srgbClr val="1E3A52"/>
          </a:solidFill>
          <a:ln w="9525">
            <a:solidFill>
              <a:srgbClr val="0B9E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73152" cy="960120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9E8A"/>
                </a:solidFill>
              </a:rPr>
              <a:t>Dockerfile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2"/>
                </a:solidFill>
              </a:rPr>
              <a:t>Multi-stage build · Java 21 distroless · non-root UID 1000 · OCI labels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4206240" cy="960120"/>
          </a:xfrm>
          <a:prstGeom prst="rect">
            <a:avLst/>
          </a:prstGeom>
          <a:solidFill>
            <a:srgbClr val="1E3A52"/>
          </a:solidFill>
          <a:ln w="9525">
            <a:solidFill>
              <a:srgbClr val="0B9E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417320"/>
            <a:ext cx="73152" cy="960120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9E8A"/>
                </a:solidFill>
              </a:rPr>
              <a:t>Azure Container Registry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8105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2"/>
                </a:solidFill>
              </a:rPr>
              <a:t>Immutable tags [sha-7] · Trivy scan on push · AcrPull via managed identity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514600"/>
            <a:ext cx="4206240" cy="960120"/>
          </a:xfrm>
          <a:prstGeom prst="rect">
            <a:avLst/>
          </a:prstGeom>
          <a:solidFill>
            <a:srgbClr val="1E3A52"/>
          </a:solidFill>
          <a:ln w="9525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14600"/>
            <a:ext cx="73152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Helm Library Chart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9077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2"/>
                </a:solidFill>
              </a:rPr>
              <a:t>Shared templates for Deployment, HPA, PDB, SecretProvider · per-service values.yaml thin override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514600"/>
            <a:ext cx="4206240" cy="960120"/>
          </a:xfrm>
          <a:prstGeom prst="rect">
            <a:avLst/>
          </a:prstGeom>
          <a:solidFill>
            <a:srgbClr val="1E3A52"/>
          </a:solidFill>
          <a:ln w="9525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514600"/>
            <a:ext cx="73152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AKS Configuration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9077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2"/>
                </a:solidFill>
              </a:rPr>
              <a:t>Namespaces · RBAC · NetworkPolicy default-deny · Azure Workload Identity · Key Vault CSI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611880"/>
            <a:ext cx="4206240" cy="960120"/>
          </a:xfrm>
          <a:prstGeom prst="rect">
            <a:avLst/>
          </a:prstGeom>
          <a:solidFill>
            <a:srgbClr val="1E3A52"/>
          </a:solidFill>
          <a:ln w="9525">
            <a:solidFill>
              <a:srgbClr val="B8D8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611880"/>
            <a:ext cx="73152" cy="960120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D8E8"/>
                </a:solidFill>
              </a:rPr>
              <a:t>Istio Service Mesh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0050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2"/>
                </a:solidFill>
              </a:rPr>
              <a:t>VirtualService + DestinationRule (java-v1 / dotnet-v1 subsets pre-wired) · STRICT mTLS · Circuit breaker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611880"/>
            <a:ext cx="4206240" cy="960120"/>
          </a:xfrm>
          <a:prstGeom prst="rect">
            <a:avLst/>
          </a:prstGeom>
          <a:solidFill>
            <a:srgbClr val="1E3A52"/>
          </a:solidFill>
          <a:ln w="9525">
            <a:solidFill>
              <a:srgbClr val="B8D8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611880"/>
            <a:ext cx="73152" cy="960120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D8E8"/>
                </a:solidFill>
              </a:rPr>
              <a:t>Harness Pipeline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40050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2"/>
                </a:solidFill>
              </a:rPr>
              <a:t>Build → Test → Push → Dev (auto) → Staging (approval) → Prod (change ticket + approval)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E3A52"/>
          </a:solidFill>
          <a:ln w="6350">
            <a:solidFill>
              <a:srgbClr val="B8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D8E8"/>
                </a:solidFill>
              </a:rPr>
              <a:t>Gate: All services pass Prompt 3.R (20-item security · reliability · deployment · observability checklist) before Phase 4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2C55E"/>
                </a:solidFill>
              </a:rPr>
              <a:t>PHASE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Strangler Fig — Zero-Downtime Cutover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3075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307592"/>
            <a:ext cx="3291840" cy="384048"/>
          </a:xfrm>
          <a:prstGeom prst="rect">
            <a:avLst/>
          </a:prstGeom>
          <a:solidFill>
            <a:srgbClr val="E8534A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3533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.NET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92040" y="12984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Baseline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(no action)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20574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63040" y="2057400"/>
            <a:ext cx="2962656" cy="384048"/>
          </a:xfrm>
          <a:prstGeom prst="rect">
            <a:avLst/>
          </a:prstGeom>
          <a:solidFill>
            <a:srgbClr val="E8534A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1031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.NET 90%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25696" y="2057400"/>
            <a:ext cx="329184" cy="384048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04825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Canary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48 h observe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0" y="2103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A623"/>
                </a:solidFill>
              </a:rPr>
              <a:t>↩ rollback &lt; 30s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280720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63040" y="2807208"/>
            <a:ext cx="1645920" cy="384048"/>
          </a:xfrm>
          <a:prstGeom prst="rect">
            <a:avLst/>
          </a:prstGeom>
          <a:solidFill>
            <a:srgbClr val="E8534A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8529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.NET 50%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2807208"/>
            <a:ext cx="1645920" cy="384048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8529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Java 50%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980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Parity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48 h observe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0" y="28529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A623"/>
                </a:solidFill>
              </a:rPr>
              <a:t>↩ rollback &lt; 30s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355701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63040" y="3557016"/>
            <a:ext cx="3291840" cy="384048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360273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Java 100%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547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Full cutover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72 h observe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0" y="36027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A623"/>
                </a:solidFill>
              </a:rPr>
              <a:t>↩ rollback &lt; 30s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315968"/>
            <a:ext cx="8503920" cy="658368"/>
          </a:xfrm>
          <a:prstGeom prst="rect">
            <a:avLst/>
          </a:prstGeom>
          <a:solidFill>
            <a:srgbClr val="162433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379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Advance criteria per stage: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14600" y="437997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Error rate &lt; threshold  ·  No pod restarts  ·  SAP fault rate stable  ·  p99 latency within SLO  ·  Senior engineer sign-off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Powered by: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17320" y="466344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Istio VirtualService weight patches  ·  PrometheusRule alerts  ·  Grafana dashboard  ·  AI-generated rollback runbook &amp; decision tree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CFB5"/>
          </a:solidFill>
          <a:ln w="12700">
            <a:solidFill>
              <a:srgbClr val="0EC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ECFB5"/>
                </a:solidFill>
              </a:rPr>
              <a:t>AI TOOLING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GitHub Copilot as the Migration 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20240" cy="2468880"/>
          </a:xfrm>
          <a:prstGeom prst="rect">
            <a:avLst/>
          </a:prstGeom>
          <a:solidFill>
            <a:srgbClr val="1E3A52"/>
          </a:solidFill>
          <a:ln w="12700">
            <a:solidFill>
              <a:srgbClr val="0ECFB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258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B9E8A"/>
                </a:solidFill>
              </a:rPr>
              <a:t>52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20040" y="23591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2"/>
                </a:solidFill>
              </a:rPr>
              <a:t>AI prompts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2"/>
                </a:solidFill>
              </a:rPr>
              <a:t>across 4 phases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3017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CA0B3"/>
                </a:solidFill>
              </a:rPr>
              <a:t>one reusable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CA0B3"/>
                </a:solidFill>
              </a:rPr>
              <a:t>instruction file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CA0B3"/>
                </a:solidFill>
              </a:rPr>
              <a:t>per phase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6400800" cy="530352"/>
          </a:xfrm>
          <a:prstGeom prst="rect">
            <a:avLst/>
          </a:prstGeom>
          <a:solidFill>
            <a:srgbClr val="1E3A52"/>
          </a:solidFill>
          <a:ln w="9525">
            <a:solidFill>
              <a:srgbClr val="0B9E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1188720"/>
            <a:ext cx="73152" cy="530352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2527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9E8A"/>
                </a:solidFill>
              </a:rPr>
              <a:t>Phase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47872" y="1252728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@workspace scans solution for WCF contracts, operations, SAP proxies, web.config endpoints. Produces JSON manifest.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1810512"/>
            <a:ext cx="6400800" cy="530352"/>
          </a:xfrm>
          <a:prstGeom prst="rect">
            <a:avLst/>
          </a:prstGeom>
          <a:solidFill>
            <a:srgbClr val="1E3A52"/>
          </a:solidFill>
          <a:ln w="9525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1810512"/>
            <a:ext cx="73152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1874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47872" y="1874520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Translates .svc.cs business logic to @Service, generates records, SAP clients, unit tests and contract stubs.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2432304"/>
            <a:ext cx="6400800" cy="530352"/>
          </a:xfrm>
          <a:prstGeom prst="rect">
            <a:avLst/>
          </a:prstGeom>
          <a:solidFill>
            <a:srgbClr val="1E3A52"/>
          </a:solidFill>
          <a:ln w="9525">
            <a:solidFill>
              <a:srgbClr val="B8D8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23160" y="2432304"/>
            <a:ext cx="73152" cy="530352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24963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D8E8"/>
                </a:solidFill>
              </a:rPr>
              <a:t>Phase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47872" y="2496312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Generates Dockerfile, Helm library chart, Istio VirtualService/DestinationRule, Harness pipeline YAML.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23160" y="3054096"/>
            <a:ext cx="6400800" cy="530352"/>
          </a:xfrm>
          <a:prstGeom prst="rect">
            <a:avLst/>
          </a:prstGeom>
          <a:solidFill>
            <a:srgbClr val="1E3A52"/>
          </a:solidFill>
          <a:ln w="9525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23160" y="3054096"/>
            <a:ext cx="73152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3118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Phase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47872" y="3118104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Generates integration tests, parity scripts, rollback runbooks, Prometheus alert rules, Grafana dashboards.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1E3A52"/>
          </a:solidFill>
          <a:ln w="6350">
            <a:solidFill>
              <a:srgbClr val="0ECF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72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CFB5"/>
                </a:solidFill>
              </a:rPr>
              <a:t>Principle: AI handles repetitive pattern-based generation. Engineers own business logic validation, SAP semantics and architectural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A623"/>
                </a:solidFill>
              </a:rPr>
              <a:t>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Phased Delivery — Risk-Tiered Sprint Sequencing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45920" cy="1234440"/>
          </a:xfrm>
          <a:prstGeom prst="rect">
            <a:avLst/>
          </a:prstGeom>
          <a:solidFill>
            <a:srgbClr val="162433"/>
          </a:solidFill>
          <a:ln w="19050">
            <a:solidFill>
              <a:srgbClr val="0B9E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1645920" cy="73152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344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9E8A"/>
                </a:solidFill>
              </a:rPr>
              <a:t>Wk 1–3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3192" y="15727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Discovery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&amp; Analysis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57400" y="1234440"/>
            <a:ext cx="2011680" cy="1234440"/>
          </a:xfrm>
          <a:prstGeom prst="rect">
            <a:avLst/>
          </a:prstGeom>
          <a:solidFill>
            <a:srgbClr val="162433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1234440"/>
            <a:ext cx="20116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13441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Wk 4–9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0552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2+3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30552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App + Infra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(parallel)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60520" y="1234440"/>
            <a:ext cx="1554480" cy="1234440"/>
          </a:xfrm>
          <a:prstGeom prst="rect">
            <a:avLst/>
          </a:prstGeom>
          <a:solidFill>
            <a:srgbClr val="162433"/>
          </a:solidFill>
          <a:ln w="19050">
            <a:solidFill>
              <a:srgbClr val="0B9E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60520" y="1234440"/>
            <a:ext cx="1554480" cy="73152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1344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9E8A"/>
                </a:solidFill>
              </a:rPr>
              <a:t>Wk 10–14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33672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Green Svcs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33672" y="1828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4 services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Sprint 1–2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06440" y="1234440"/>
            <a:ext cx="1554480" cy="1234440"/>
          </a:xfrm>
          <a:prstGeom prst="rect">
            <a:avLst/>
          </a:prstGeom>
          <a:solidFill>
            <a:srgbClr val="162433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06440" y="1234440"/>
            <a:ext cx="15544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9592" y="1344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Wk 15–20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79592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Amber Svcs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79592" y="1828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6 services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Sprint 3–4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52360" y="1234440"/>
            <a:ext cx="1371600" cy="1234440"/>
          </a:xfrm>
          <a:prstGeom prst="rect">
            <a:avLst/>
          </a:prstGeom>
          <a:solidFill>
            <a:srgbClr val="162433"/>
          </a:solidFill>
          <a:ln w="19050">
            <a:solidFill>
              <a:srgbClr val="E853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52360" y="1234440"/>
            <a:ext cx="1371600" cy="73152"/>
          </a:xfrm>
          <a:prstGeom prst="rect">
            <a:avLst/>
          </a:prstGeom>
          <a:solidFill>
            <a:srgbClr val="E8534A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25512" y="1344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534A"/>
                </a:solidFill>
              </a:rPr>
              <a:t>Wk 21+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25512" y="1572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Red Svcs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25512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Remaining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Sprint 5–6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2651760"/>
            <a:ext cx="8503920" cy="329184"/>
          </a:xfrm>
          <a:prstGeom prst="rect">
            <a:avLst/>
          </a:prstGeom>
          <a:solidFill>
            <a:srgbClr val="1624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724912"/>
            <a:ext cx="128016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6974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Green tier:  0–4 pts · simple CRUD · AI-led · 1-2 sprints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724912"/>
            <a:ext cx="128016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26974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Amber tier:  5–9 pts · multiple SAP ops · engineer + AI · 3-4 sprints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2724912"/>
            <a:ext cx="128016" cy="128016"/>
          </a:xfrm>
          <a:prstGeom prst="rect">
            <a:avLst/>
          </a:prstGeom>
          <a:solidFill>
            <a:srgbClr val="E8534A"/>
          </a:solidFill>
          <a:ln w="12700">
            <a:solidFill>
              <a:srgbClr val="E85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26974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</a:rPr>
              <a:t>Red tier:  10+ pts · financial calc · senior engineer · sprint 5–6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3090672"/>
            <a:ext cx="8503920" cy="1371600"/>
          </a:xfrm>
          <a:prstGeom prst="rect">
            <a:avLst/>
          </a:prstGeom>
          <a:solidFill>
            <a:srgbClr val="162433"/>
          </a:solidFill>
          <a:ln w="9525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31455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Strangler Fig cutover — per service during Phase 3/4 delivery window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493008"/>
            <a:ext cx="1920240" cy="804672"/>
          </a:xfrm>
          <a:prstGeom prst="rect">
            <a:avLst/>
          </a:prstGeom>
          <a:solidFill>
            <a:srgbClr val="1E3A52"/>
          </a:solidFill>
          <a:ln w="9525">
            <a:solidFill>
              <a:srgbClr val="0B9E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3538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9E8A"/>
                </a:solidFill>
              </a:rPr>
              <a:t>10%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30352" y="3895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Stage 1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Canary · 48h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0" y="3493008"/>
            <a:ext cx="1920240" cy="804672"/>
          </a:xfrm>
          <a:prstGeom prst="rect">
            <a:avLst/>
          </a:prstGeom>
          <a:solidFill>
            <a:srgbClr val="1E3A52"/>
          </a:solidFill>
          <a:ln w="9525">
            <a:solidFill>
              <a:srgbClr val="0B9E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33472" y="3538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9E8A"/>
                </a:solidFill>
              </a:rPr>
              <a:t>50%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633472" y="3895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Stage 2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Parity · 48h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493008"/>
            <a:ext cx="1920240" cy="804672"/>
          </a:xfrm>
          <a:prstGeom prst="rect">
            <a:avLst/>
          </a:prstGeom>
          <a:solidFill>
            <a:srgbClr val="1E3A52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3538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100%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736592" y="3895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Stage 3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Full · 72h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66560" y="3493008"/>
            <a:ext cx="1920240" cy="804672"/>
          </a:xfrm>
          <a:prstGeom prst="rect">
            <a:avLst/>
          </a:prstGeom>
          <a:solidFill>
            <a:srgbClr val="1E3A52"/>
          </a:solidFill>
          <a:ln w="9525">
            <a:solidFill>
              <a:srgbClr val="E85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9712" y="3538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34A"/>
                </a:solidFill>
              </a:rPr>
              <a:t>Decom.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839712" y="3895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.NET retired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CA0B3"/>
                </a:solidFill>
              </a:rPr>
              <a:t>30d window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Each stage requires: SAP integration tests pass  ·  Response parity check pass  ·  Pre-cutover readiness checklist signed off  ·  Rollback runbook reviewed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B9E8A"/>
                </a:solidFill>
              </a:rPr>
              <a:t>KEY BENEFITS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This Approach Wins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743200" cy="1536192"/>
          </a:xfrm>
          <a:prstGeom prst="rect">
            <a:avLst/>
          </a:prstGeom>
          <a:solidFill>
            <a:srgbClr val="1E3A52"/>
          </a:solidFill>
          <a:ln w="9525">
            <a:solidFill>
              <a:srgbClr val="0B9E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3716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9E8A"/>
                </a:solidFill>
              </a:rPr>
              <a:t>70%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29768" y="1947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 manual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203704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AI generates boilerplate, stubs, tests and infra config. Engineers focus on business logic and SAP semantics.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1261872"/>
            <a:ext cx="2743200" cy="1536192"/>
          </a:xfrm>
          <a:prstGeom prst="rect">
            <a:avLst/>
          </a:prstGeom>
          <a:solidFill>
            <a:srgbClr val="1E3A52"/>
          </a:solidFill>
          <a:ln w="9525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74136" y="13716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</a:rPr>
              <a:t>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74136" y="1947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Big-bang 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74136" y="2203704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Strangler Fig pattern with Istio weights means any service can roll back to .NET in under 30 seconds.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08776" y="1261872"/>
            <a:ext cx="2743200" cy="1536192"/>
          </a:xfrm>
          <a:prstGeom prst="rect">
            <a:avLst/>
          </a:prstGeom>
          <a:solidFill>
            <a:srgbClr val="1E3A52"/>
          </a:solidFill>
          <a:ln w="9525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18504" y="13716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</a:rPr>
              <a:t>52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18504" y="1947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Reusable prompts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8504" y="2203704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A version-controlled prompt library across all 4 phases. Future migrations plug in at Phase 1 and reuse everything.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53512"/>
            <a:ext cx="2743200" cy="1536192"/>
          </a:xfrm>
          <a:prstGeom prst="rect">
            <a:avLst/>
          </a:prstGeom>
          <a:solidFill>
            <a:srgbClr val="1E3A52"/>
          </a:solidFill>
          <a:ln w="9525">
            <a:solidFill>
              <a:srgbClr val="B8D8E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9768" y="30632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D8E8"/>
                </a:solidFill>
              </a:rPr>
              <a:t>100%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29768" y="3639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SAP parity tested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3895344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Response parity comparison script validates every field. 7 SAP edge-case categories tested before any traffic shifts.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64408" y="2953512"/>
            <a:ext cx="2743200" cy="1536192"/>
          </a:xfrm>
          <a:prstGeom prst="rect">
            <a:avLst/>
          </a:prstGeom>
          <a:solidFill>
            <a:srgbClr val="1E3A52"/>
          </a:solidFill>
          <a:ln w="9525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74136" y="30632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</a:rPr>
              <a:t>1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374136" y="3639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Helm library chart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74136" y="3895344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Every service shares one library chart. Adding a new service is a 20-line values.yaml. Consistency enforced.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08776" y="2953512"/>
            <a:ext cx="2743200" cy="1536192"/>
          </a:xfrm>
          <a:prstGeom prst="rect">
            <a:avLst/>
          </a:prstGeom>
          <a:solidFill>
            <a:srgbClr val="1E3A52"/>
          </a:solidFill>
          <a:ln w="9525">
            <a:solidFill>
              <a:srgbClr val="0B9E8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18504" y="30632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9E8A"/>
                </a:solidFill>
              </a:rPr>
              <a:t>mTLS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318504" y="3639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Enforced everywhere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18504" y="3895344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CA0B3"/>
                </a:solidFill>
              </a:rPr>
              <a:t>Istio STRICT mTLS from day one. AuthorizationPolicy restricts ingress per service. Key Vault for all credentials.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B9E8A"/>
                </a:solidFill>
              </a:rPr>
              <a:t>NEXT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B9E8A"/>
                </a:solidFill>
              </a:rPr>
              <a:t>STEPS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28600" y="2057400"/>
            <a:ext cx="347472" cy="347472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084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Kick off Phase 1 — provision IDE access to .NET solution and run Prompt 1.1-A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2715768"/>
            <a:ext cx="347472" cy="347472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743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Identify two Green-tier pilot services for Phase 2 proof-of-concept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3374136"/>
            <a:ext cx="347472" cy="347472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34015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Platform team begins Phase 3 infrastructure in parallel (Helm library, ACR, AKS namespaces)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4032504"/>
            <a:ext cx="347472" cy="347472"/>
          </a:xfrm>
          <a:prstGeom prst="rect">
            <a:avLst/>
          </a:prstGeom>
          <a:solidFill>
            <a:srgbClr val="0B9E8A"/>
          </a:solidFill>
          <a:ln w="12700">
            <a:solidFill>
              <a:srgbClr val="0B9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405993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Schedule SAP team alignment — sandbox access and credential provisioning for Phase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86200" y="45720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The Framework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Is Ready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88620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9E8A"/>
                </a:solidFill>
              </a:rPr>
              <a:t>Deliverables ready to commit to .github/: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86200" y="2148840"/>
            <a:ext cx="4937760" cy="411480"/>
          </a:xfrm>
          <a:prstGeom prst="rect">
            <a:avLst/>
          </a:prstGeom>
          <a:solidFill>
            <a:srgbClr val="1624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22037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phase1-copilot-instructions.md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0" y="22037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</a:rPr>
              <a:t>9 discovery &amp; analysis prompts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86200" y="2651760"/>
            <a:ext cx="4937760" cy="411480"/>
          </a:xfrm>
          <a:prstGeom prst="rect">
            <a:avLst/>
          </a:prstGeom>
          <a:solidFill>
            <a:srgbClr val="1624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27066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phase2-copilot-instructions.md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27066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</a:rPr>
              <a:t>14 application migration prompts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86200" y="3154680"/>
            <a:ext cx="4937760" cy="411480"/>
          </a:xfrm>
          <a:prstGeom prst="rect">
            <a:avLst/>
          </a:prstGeom>
          <a:solidFill>
            <a:srgbClr val="1624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32095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phase3-copilot-instructions.md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2095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</a:rPr>
              <a:t>14 DevOps &amp; infrastructure prompts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86200" y="3657600"/>
            <a:ext cx="4937760" cy="411480"/>
          </a:xfrm>
          <a:prstGeom prst="rect">
            <a:avLst/>
          </a:prstGeom>
          <a:solidFill>
            <a:srgbClr val="1624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37124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C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phase4-copilot-instructions.md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0" y="37124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</a:rPr>
              <a:t>15 integration &amp; cutover prompts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86200" y="4251960"/>
            <a:ext cx="4937760" cy="731520"/>
          </a:xfrm>
          <a:prstGeom prst="rect">
            <a:avLst/>
          </a:prstGeom>
          <a:solidFill>
            <a:srgbClr val="1E3A5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0" y="43159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E8EDF2"/>
                </a:solidFill>
              </a:rPr>
              <a:t>"The framework built in Phase 2 is the real deliverable — not just the pilot services. Every hour invested in the Helm library, common-lib and prompt library pays back multiplied across every service in the full migration."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.NET WCF → Java Migration Framework</dc:title>
  <dc:subject>PptxGenJS Presentation</dc:subject>
  <dc:creator>PptxGenJS</dc:creator>
  <cp:lastModifiedBy>PptxGenJS</cp:lastModifiedBy>
  <cp:revision>1</cp:revision>
  <dcterms:created xsi:type="dcterms:W3CDTF">2026-05-02T21:48:45Z</dcterms:created>
  <dcterms:modified xsi:type="dcterms:W3CDTF">2026-05-02T21:48:45Z</dcterms:modified>
</cp:coreProperties>
</file>